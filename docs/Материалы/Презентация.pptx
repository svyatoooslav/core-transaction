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strument Sans Medium" panose="020B0604020202020204" charset="0"/>
      <p:regular r:id="rId21"/>
    </p:embeddedFont>
    <p:embeddedFont>
      <p:font typeface="Instrument Sans Semi Bold" panose="020B0604020202020204" charset="0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32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74827"/>
            <a:ext cx="7556421" cy="310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Проектирование и разработка информационной системы гарантированной доставки сообщений в банковской сфере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872871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Курсовая работа по проектированию и реализации событийно-ориентированной банковской платформы на основе архитектуры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CQRS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и паттерна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Transactional Outbox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для надёжной обработки финансовых транзакций между микросервисами.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6373892"/>
            <a:ext cx="3269575" cy="373142"/>
          </a:xfrm>
          <a:prstGeom prst="roundRect">
            <a:avLst>
              <a:gd name="adj" fmla="val 38297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6399252" y="6433423"/>
            <a:ext cx="303145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KOTLIN 1.9.25 · JAVA 21 · SPRING BOOT 3.5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9648944" y="6366272"/>
            <a:ext cx="3576518" cy="388382"/>
          </a:xfrm>
          <a:prstGeom prst="roundRect">
            <a:avLst>
              <a:gd name="adj" fmla="val 36794"/>
            </a:avLst>
          </a:prstGeom>
          <a:noFill/>
          <a:ln w="7620">
            <a:solidFill>
              <a:srgbClr val="84C1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75627" y="6433423"/>
            <a:ext cx="332315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POSTGRESQL 16 · APACHE KAFKA · DOCKER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9017"/>
            <a:ext cx="50858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Предметная область и цели исследования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048470"/>
            <a:ext cx="1253311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Зачем это нужно: надёжность банковских операций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650915" y="2966204"/>
            <a:ext cx="6565106" cy="3604379"/>
          </a:xfrm>
          <a:prstGeom prst="roundRect">
            <a:avLst>
              <a:gd name="adj" fmla="val 7929"/>
            </a:avLst>
          </a:prstGeom>
          <a:solidFill>
            <a:srgbClr val="000E21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31645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Проблема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3673078"/>
            <a:ext cx="6168390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Запись транзакции в базу данных и публикация события в Kafka </a:t>
            </a:r>
            <a:r>
              <a:rPr lang="en-US" sz="15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 могут быть выполнены атомарно</a:t>
            </a:r>
            <a:r>
              <a:rPr lang="en-US" sz="15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Если сервис упадёт между этими операциями — событие будет потеряно, хотя транзакция уже зафиксирована. В банковской сфере такая ошибка недопустима: потеря транзакции или двойное списание обходятся крайне дорого.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1645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Решение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673078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Применение паттерна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Transactional Outbox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событие записывается в ту же базу данных в рамках одной транзакции с бизнес-данными, а отдельный фоновый процесс доставляет его в Kafka. Это гарантирует, что ни одно событие не будет потеряно даже при сбое инфраструктуры.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543937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Второй ключевой паттерн —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CQRS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разделение операций записи и чтения на два независимых микросервиса для изолированного масштабирования и отказоустойчивости.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78" y="1136452"/>
            <a:ext cx="7693819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Архитектура системы: два микросервиса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22578" y="1806059"/>
            <a:ext cx="7898844" cy="4468416"/>
          </a:xfrm>
          <a:prstGeom prst="roundRect">
            <a:avLst>
              <a:gd name="adj" fmla="val 3135"/>
            </a:avLst>
          </a:prstGeom>
          <a:solidFill>
            <a:srgbClr val="CEE6FD"/>
          </a:solidFill>
          <a:ln/>
        </p:spPr>
      </p:sp>
      <p:sp>
        <p:nvSpPr>
          <p:cNvPr id="5" name="Shape 2"/>
          <p:cNvSpPr/>
          <p:nvPr/>
        </p:nvSpPr>
        <p:spPr>
          <a:xfrm>
            <a:off x="622578" y="1806059"/>
            <a:ext cx="7898844" cy="2234208"/>
          </a:xfrm>
          <a:prstGeom prst="roundRect">
            <a:avLst>
              <a:gd name="adj" fmla="val 6271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778193" y="1961674"/>
            <a:ext cx="1945719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core-transaction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8193" y="2278023"/>
            <a:ext cx="758761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Сторона записи (Write Side)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8193" y="2573298"/>
            <a:ext cx="7587615" cy="101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Регистрация клиентов и открытие счетов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Проведение 8 типов финансовых операций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Пессимистичная блокировка счетов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Публикация событий через Outbox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8193" y="3662601"/>
            <a:ext cx="758761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Порт: </a:t>
            </a: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8090</a:t>
            </a: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· БД: </a:t>
            </a: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transaction_db</a:t>
            </a: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(5434)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2578" y="4040267"/>
            <a:ext cx="7898844" cy="2234208"/>
          </a:xfrm>
          <a:prstGeom prst="rect">
            <a:avLst/>
          </a:prstGeom>
          <a:solidFill>
            <a:srgbClr val="CEE6FD"/>
          </a:solidFill>
          <a:ln/>
        </p:spPr>
      </p:sp>
      <p:sp>
        <p:nvSpPr>
          <p:cNvPr id="11" name="Shape 8"/>
          <p:cNvSpPr/>
          <p:nvPr/>
        </p:nvSpPr>
        <p:spPr>
          <a:xfrm>
            <a:off x="622578" y="4040267"/>
            <a:ext cx="7898844" cy="22860"/>
          </a:xfrm>
          <a:prstGeom prst="roundRect">
            <a:avLst>
              <a:gd name="adj" fmla="val 612860"/>
            </a:avLst>
          </a:prstGeom>
          <a:solidFill>
            <a:srgbClr val="B4CCE3"/>
          </a:solidFill>
          <a:ln/>
        </p:spPr>
      </p:sp>
      <p:sp>
        <p:nvSpPr>
          <p:cNvPr id="12" name="Text 9"/>
          <p:cNvSpPr/>
          <p:nvPr/>
        </p:nvSpPr>
        <p:spPr>
          <a:xfrm>
            <a:off x="778193" y="4195882"/>
            <a:ext cx="1945719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core-ledger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8193" y="4512231"/>
            <a:ext cx="758761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Сторона чтения (Read Side)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8193" y="4807506"/>
            <a:ext cx="7587615" cy="101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Идемпотентное потребление Kafka-событий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Денормализованная read-модель реестра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История транзакций с фильтрацией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Генерация отчётов: PDF, DOCX, HTML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8193" y="5896808"/>
            <a:ext cx="758761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Порт: </a:t>
            </a: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8091</a:t>
            </a: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· БД: </a:t>
            </a: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ledger_db</a:t>
            </a: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(5435)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2578" y="6411754"/>
            <a:ext cx="7898844" cy="681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Сервисы взаимодействуют </a:t>
            </a: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асинхронно</a:t>
            </a: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через топик </a:t>
            </a:r>
            <a:r>
              <a:rPr lang="en-US" sz="12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core.transactions.request</a:t>
            </a: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Kafka-кластера из трёх KRaft-брокеров. Прямая запись через API в core-ledger не предусмотрена — все данные поступают исключительно через обработку событий.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493" y="1068943"/>
            <a:ext cx="3538061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Технический стек и инструменты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04493" y="1406604"/>
            <a:ext cx="5199936" cy="550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Технологии реализации</a:t>
            </a:r>
            <a:endParaRPr lang="en-US" sz="3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493" y="2191345"/>
            <a:ext cx="352187" cy="3521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493" y="2738795"/>
            <a:ext cx="220158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Язык и платформа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04493" y="3107650"/>
            <a:ext cx="6513076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Kotlin 1.9.25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на платформе Java 21. Лаконичный синтаксис, встроенная null-безопасность, полная совместимость с экосистемой Spring.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2831" y="2191345"/>
            <a:ext cx="352187" cy="3521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12831" y="2738795"/>
            <a:ext cx="220158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Фреймворк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412831" y="3107650"/>
            <a:ext cx="6513076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Boot 3.5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с встроенным сервером Jetty. Spring Data JPA, Spring Kafka, Spring Validation. Документация через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springdoc-openapi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493" y="3951923"/>
            <a:ext cx="352187" cy="3521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4493" y="4499372"/>
            <a:ext cx="220158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База данных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04493" y="4868228"/>
            <a:ext cx="6513076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PostgreSQL 16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ACID-транзакции, JSONB для Outbox-событий, LIST-секционирование, SELECT FOR UPDATE. Миграции через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Liquibase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12831" y="3951923"/>
            <a:ext cx="352187" cy="3521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12831" y="4499372"/>
            <a:ext cx="220158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Брокер сообщений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412831" y="4868228"/>
            <a:ext cx="6513076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Apache Kafka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кластер из 3 KRaft-брокеров. Гарантированный порядок событий, масштабируемость, отказоустойчивость.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493" y="5712500"/>
            <a:ext cx="352187" cy="3521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4493" y="6259949"/>
            <a:ext cx="220158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Инфраструктура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704493" y="6628805"/>
            <a:ext cx="6513076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Docker Compose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все компоненты в контейнерах. Метрики через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Micrometer + Prometheus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Kafka UI для мониторинга топиков.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12831" y="5712500"/>
            <a:ext cx="352187" cy="35218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12831" y="6259949"/>
            <a:ext cx="220158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Тестирование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7412831" y="6628805"/>
            <a:ext cx="6513076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JUnit 5 + MockK + Testcontainers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33 тестовых файла: 21 в core-transaction, 12 в core-ledger. Покрытие unit и интеграционных тестов.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990" y="1058228"/>
            <a:ext cx="2131576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База данных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81990" y="1383149"/>
            <a:ext cx="7741206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Модель данных: две независимые БД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81990" y="2282190"/>
            <a:ext cx="2658547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transaction_db — 7 таблиц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1990" y="2713315"/>
            <a:ext cx="3139321" cy="2066925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9130" y="2713315"/>
            <a:ext cx="91440" cy="2066925"/>
          </a:xfrm>
          <a:prstGeom prst="roundRect">
            <a:avLst>
              <a:gd name="adj" fmla="val 167841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943928" y="2906673"/>
            <a:ext cx="2376368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users / accounts / cards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43928" y="3319463"/>
            <a:ext cx="2684026" cy="126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Клиенты, счета (CHECKING, SAVINGS, DEPOSIT, BROKERAGE), платёжные карты. Баланс: NUMERIC(19,4) ≥ 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67758" y="2713315"/>
            <a:ext cx="3139440" cy="2066925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44898" y="2713315"/>
            <a:ext cx="91440" cy="2066925"/>
          </a:xfrm>
          <a:prstGeom prst="roundRect">
            <a:avLst>
              <a:gd name="adj" fmla="val 167841"/>
            </a:avLst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4229695" y="2906673"/>
            <a:ext cx="2131576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transactions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229695" y="3319463"/>
            <a:ext cx="2684145" cy="101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Финансовые операции. Ключ идемпотентности (UUID, UNIQUE), статус, тип, суммы, временны́е метки.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990" y="4926687"/>
            <a:ext cx="3139321" cy="2079784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9130" y="4926687"/>
            <a:ext cx="91440" cy="2079784"/>
          </a:xfrm>
          <a:prstGeom prst="roundRect">
            <a:avLst>
              <a:gd name="adj" fmla="val 167841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943928" y="5120045"/>
            <a:ext cx="2131576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outbox_messages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43928" y="5532834"/>
            <a:ext cx="2684026" cy="126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Очередь Transactional Outbox. LIST-секционирование на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 партиций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Полезная нагрузка в JSONB. Составной PK (id, partition_num).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67758" y="4926687"/>
            <a:ext cx="3139440" cy="2079784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44898" y="4926687"/>
            <a:ext cx="91440" cy="2079784"/>
          </a:xfrm>
          <a:prstGeom prst="roundRect">
            <a:avLst>
              <a:gd name="adj" fmla="val 167841"/>
            </a:avLst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4229695" y="5120045"/>
            <a:ext cx="2684145" cy="53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outbox_consumer_offsets / outbox_partition_locks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229695" y="5799177"/>
            <a:ext cx="2684145" cy="101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Смещения потребителей и lease-блокировки партиций. Намеренно без FK на бизнес-таблицы.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30822" y="2282190"/>
            <a:ext cx="2223016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ledger_db — 1 таблица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530822" y="2713315"/>
            <a:ext cx="6425208" cy="1767721"/>
          </a:xfrm>
          <a:prstGeom prst="roundRect">
            <a:avLst>
              <a:gd name="adj" fmla="val 8682"/>
            </a:avLst>
          </a:prstGeom>
          <a:solidFill>
            <a:srgbClr val="CEE6FD"/>
          </a:solidFill>
          <a:ln/>
        </p:spPr>
      </p:sp>
      <p:sp>
        <p:nvSpPr>
          <p:cNvPr id="23" name="Text 21"/>
          <p:cNvSpPr/>
          <p:nvPr/>
        </p:nvSpPr>
        <p:spPr>
          <a:xfrm>
            <a:off x="7701320" y="2883813"/>
            <a:ext cx="2131576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transaction_ledger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701320" y="3296603"/>
            <a:ext cx="6084213" cy="101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Денормализованная read-модель. Все данные в одной строке — без JOIN при чтении истории. Уникальный idempotency_key защищает от дубликатов. Индексы на source_transaction_id, номера счетов, event_created_at.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30822" y="4645819"/>
            <a:ext cx="6425208" cy="1420058"/>
          </a:xfrm>
          <a:prstGeom prst="roundRect">
            <a:avLst>
              <a:gd name="adj" fmla="val 10808"/>
            </a:avLst>
          </a:prstGeom>
          <a:solidFill>
            <a:srgbClr val="B5DAFC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320" y="4892635"/>
            <a:ext cx="213122" cy="17049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084939" y="4834890"/>
            <a:ext cx="5700593" cy="101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Связь между БД — только </a:t>
            </a:r>
            <a:r>
              <a:rPr lang="en-US" sz="13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логическая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transaction_ledger.source_transaction_id ссылается на transaction_db, но FK на уровне БД не закреплён. Это архитектурное решение обеспечивает независимость сервисов.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6251" y="445294"/>
            <a:ext cx="1984534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Ключевые алгоритмы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1436251" y="722948"/>
            <a:ext cx="7313057" cy="4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Как работает гарантированная доставка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365" y="1356836"/>
            <a:ext cx="10699671" cy="566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46748" y="5407210"/>
            <a:ext cx="2645502" cy="33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Приём запроса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3258623" y="5831961"/>
            <a:ext cx="2833627" cy="4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Idempotency и блокировка счёта.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223938" y="1754948"/>
            <a:ext cx="2833627" cy="66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Атомарная транзакция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23938" y="2510386"/>
            <a:ext cx="2833627" cy="4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Обновление баланса и запись Outbox.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573144" y="2085635"/>
            <a:ext cx="2645502" cy="33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Outbox Consumer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8573144" y="2510386"/>
            <a:ext cx="2833626" cy="4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Пуллинг партиций с ареной лиз.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572555" y="5407394"/>
            <a:ext cx="2645502" cy="33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core-ledger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572555" y="5832144"/>
            <a:ext cx="2833627" cy="4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Idempotency, запись в ферму и ack.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436251" y="7150060"/>
            <a:ext cx="11757898" cy="634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Ключевое свойство цепочки — </a:t>
            </a: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атомарность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бизнес-данные и Outbox-событие фиксируются в одной транзакции БД. Порядок блокировки счетов по алфавиту предотвращает deadlock при встречных переводах. Kafka-сообщение подтверждается только после успешной записи в 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ledger_db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а при ошибке применяется политика до 3 повторных попыток с интервалом 1 секунда.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181" y="631984"/>
            <a:ext cx="3117056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Функциональные требования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83181" y="957501"/>
            <a:ext cx="9531191" cy="53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Поддерживаемые типы банковских операций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683181" y="1711523"/>
            <a:ext cx="6558558" cy="1864042"/>
          </a:xfrm>
          <a:prstGeom prst="roundRect">
            <a:avLst>
              <a:gd name="adj" fmla="val 8247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853916" y="1882259"/>
            <a:ext cx="512326" cy="512326"/>
          </a:xfrm>
          <a:prstGeom prst="roundRect">
            <a:avLst>
              <a:gd name="adj" fmla="val 17846226"/>
            </a:avLst>
          </a:prstGeom>
          <a:solidFill>
            <a:srgbClr val="84C1F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767" y="2023110"/>
            <a:ext cx="230505" cy="2305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3916" y="2541508"/>
            <a:ext cx="233707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Внутренние переводы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3916" y="2896433"/>
            <a:ext cx="6217087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Между счетами: на сберегательный, депозитный, брокерский. Атомарное списание и зачисление.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88662" y="1711523"/>
            <a:ext cx="6558558" cy="1864042"/>
          </a:xfrm>
          <a:prstGeom prst="roundRect">
            <a:avLst>
              <a:gd name="adj" fmla="val 8247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7559397" y="1882259"/>
            <a:ext cx="512326" cy="512326"/>
          </a:xfrm>
          <a:prstGeom prst="roundRect">
            <a:avLst>
              <a:gd name="adj" fmla="val 17846226"/>
            </a:avLst>
          </a:prstGeom>
          <a:solidFill>
            <a:srgbClr val="84C1F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0248" y="2023110"/>
            <a:ext cx="230505" cy="2305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59397" y="2541508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Перевод через СБП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559397" y="2896433"/>
            <a:ext cx="6217087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 номеру телефона получателя. Идентификация счёта-получателя по привязанному телефону.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83181" y="3722489"/>
            <a:ext cx="6558558" cy="1864042"/>
          </a:xfrm>
          <a:prstGeom prst="roundRect">
            <a:avLst>
              <a:gd name="adj" fmla="val 8247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3916" y="3893225"/>
            <a:ext cx="512326" cy="512326"/>
          </a:xfrm>
          <a:prstGeom prst="roundRect">
            <a:avLst>
              <a:gd name="adj" fmla="val 17846226"/>
            </a:avLst>
          </a:prstGeom>
          <a:solidFill>
            <a:srgbClr val="84C1F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4767" y="4034076"/>
            <a:ext cx="230505" cy="2305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3916" y="4552474"/>
            <a:ext cx="2610922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Межбанковский перевод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53916" y="4907399"/>
            <a:ext cx="6217087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 номерам платёжных карт отправителя и получателя.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88662" y="3722489"/>
            <a:ext cx="6558558" cy="1864042"/>
          </a:xfrm>
          <a:prstGeom prst="roundRect">
            <a:avLst>
              <a:gd name="adj" fmla="val 8247"/>
            </a:avLst>
          </a:prstGeom>
          <a:solidFill>
            <a:srgbClr val="CEE6FD"/>
          </a:solidFill>
          <a:ln/>
        </p:spPr>
      </p:sp>
      <p:sp>
        <p:nvSpPr>
          <p:cNvPr id="20" name="Shape 15"/>
          <p:cNvSpPr/>
          <p:nvPr/>
        </p:nvSpPr>
        <p:spPr>
          <a:xfrm>
            <a:off x="7559397" y="3893225"/>
            <a:ext cx="512326" cy="512326"/>
          </a:xfrm>
          <a:prstGeom prst="roundRect">
            <a:avLst>
              <a:gd name="adj" fmla="val 17846226"/>
            </a:avLst>
          </a:prstGeom>
          <a:solidFill>
            <a:srgbClr val="84C1F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0248" y="4034076"/>
            <a:ext cx="230505" cy="2305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59397" y="4552474"/>
            <a:ext cx="265461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Зачисление без списания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559397" y="4907399"/>
            <a:ext cx="6217087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Денежный подарок и компенсация — только зачисление на счёт-получатель, без проверки баланса источника.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83181" y="5733455"/>
            <a:ext cx="6558558" cy="1864042"/>
          </a:xfrm>
          <a:prstGeom prst="roundRect">
            <a:avLst>
              <a:gd name="adj" fmla="val 8247"/>
            </a:avLst>
          </a:prstGeom>
          <a:solidFill>
            <a:srgbClr val="CEE6FD"/>
          </a:solidFill>
          <a:ln/>
        </p:spPr>
      </p:sp>
      <p:sp>
        <p:nvSpPr>
          <p:cNvPr id="25" name="Shape 19"/>
          <p:cNvSpPr/>
          <p:nvPr/>
        </p:nvSpPr>
        <p:spPr>
          <a:xfrm>
            <a:off x="853916" y="5904190"/>
            <a:ext cx="512326" cy="512326"/>
          </a:xfrm>
          <a:prstGeom prst="roundRect">
            <a:avLst>
              <a:gd name="adj" fmla="val 17846226"/>
            </a:avLst>
          </a:prstGeom>
          <a:solidFill>
            <a:srgbClr val="84C1F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4767" y="6045041"/>
            <a:ext cx="230505" cy="2305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3916" y="6563439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Погашение кредита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853916" y="6918365"/>
            <a:ext cx="6217087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Списание с расчётного счёта клиента и зачисление на счёт назначения.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388662" y="5733455"/>
            <a:ext cx="6558558" cy="1864042"/>
          </a:xfrm>
          <a:prstGeom prst="roundRect">
            <a:avLst>
              <a:gd name="adj" fmla="val 8247"/>
            </a:avLst>
          </a:prstGeom>
          <a:solidFill>
            <a:srgbClr val="CEE6FD"/>
          </a:solidFill>
          <a:ln/>
        </p:spPr>
      </p:sp>
      <p:sp>
        <p:nvSpPr>
          <p:cNvPr id="30" name="Shape 23"/>
          <p:cNvSpPr/>
          <p:nvPr/>
        </p:nvSpPr>
        <p:spPr>
          <a:xfrm>
            <a:off x="7559397" y="5904190"/>
            <a:ext cx="512326" cy="512326"/>
          </a:xfrm>
          <a:prstGeom prst="roundRect">
            <a:avLst>
              <a:gd name="adj" fmla="val 17846226"/>
            </a:avLst>
          </a:prstGeom>
          <a:solidFill>
            <a:srgbClr val="84C1F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0248" y="6045041"/>
            <a:ext cx="230505" cy="2305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59397" y="6563439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История и отчёты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7559397" y="6918365"/>
            <a:ext cx="6217087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Фильтрация по дате, типу, статусу. Выгрузка в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PDF, DOCX, HTML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через паттерн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5983" y="1093827"/>
            <a:ext cx="381857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Нефункциональные требования и ограничения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2145983" y="1333143"/>
            <a:ext cx="6465094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Финансовая корректность и надёжность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2145983" y="1872734"/>
            <a:ext cx="10338316" cy="786527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61223" y="1887974"/>
            <a:ext cx="524351" cy="756047"/>
          </a:xfrm>
          <a:prstGeom prst="roundRect">
            <a:avLst>
              <a:gd name="adj" fmla="val 19015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2325053" y="2143125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72132" y="2019062"/>
            <a:ext cx="206668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Неотрицательный баланс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72132" y="2275761"/>
            <a:ext cx="9565838" cy="1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Баланс счёта не может стать отрицательным. Операция отклоняется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 внесения изменений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в БД при недостатке средств.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5983" y="2745819"/>
            <a:ext cx="10338316" cy="786527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1223" y="2761059"/>
            <a:ext cx="524351" cy="756047"/>
          </a:xfrm>
          <a:prstGeom prst="roundRect">
            <a:avLst>
              <a:gd name="adj" fmla="val 19015"/>
            </a:avLst>
          </a:prstGeom>
          <a:solidFill>
            <a:srgbClr val="CEE6FD"/>
          </a:solidFill>
          <a:ln/>
        </p:spPr>
      </p:sp>
      <p:sp>
        <p:nvSpPr>
          <p:cNvPr id="11" name="Text 9"/>
          <p:cNvSpPr/>
          <p:nvPr/>
        </p:nvSpPr>
        <p:spPr>
          <a:xfrm>
            <a:off x="2325053" y="3016210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72132" y="2892147"/>
            <a:ext cx="2208609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Идемпотентность запросов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72132" y="3148846"/>
            <a:ext cx="956583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Каждый запрос содержит уникальный </a:t>
            </a:r>
            <a:r>
              <a:rPr lang="en-US" sz="10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idempotencyKey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Повторный запрос с тем же ключом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отклоняется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а не выполняется повторно.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5983" y="3618905"/>
            <a:ext cx="10338316" cy="897493"/>
          </a:xfrm>
          <a:prstGeom prst="roundRect">
            <a:avLst>
              <a:gd name="adj" fmla="val 13147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61223" y="3634145"/>
            <a:ext cx="524351" cy="867013"/>
          </a:xfrm>
          <a:prstGeom prst="roundRect">
            <a:avLst>
              <a:gd name="adj" fmla="val 19015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2325053" y="3944779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72132" y="3765233"/>
            <a:ext cx="238148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Дедупликация Kafka-событий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72132" y="4021931"/>
            <a:ext cx="9565838" cy="34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Повторно доставленное сообщение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распознаётся и пропускается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Дублирующая запись в реестре не создаётся. Ручное подтверждение AckMode.MANUAL_IMMEDIATE.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5983" y="4602956"/>
            <a:ext cx="10338316" cy="786527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61223" y="4618196"/>
            <a:ext cx="524351" cy="756047"/>
          </a:xfrm>
          <a:prstGeom prst="roundRect">
            <a:avLst>
              <a:gd name="adj" fmla="val 19015"/>
            </a:avLst>
          </a:prstGeom>
          <a:solidFill>
            <a:srgbClr val="CEE6FD"/>
          </a:solidFill>
          <a:ln/>
        </p:spPr>
      </p:sp>
      <p:sp>
        <p:nvSpPr>
          <p:cNvPr id="21" name="Text 19"/>
          <p:cNvSpPr/>
          <p:nvPr/>
        </p:nvSpPr>
        <p:spPr>
          <a:xfrm>
            <a:off x="2325053" y="4873347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72132" y="4749284"/>
            <a:ext cx="214526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Предотвращение deadlock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72132" y="5005983"/>
            <a:ext cx="9565838" cy="1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 переводе между двумя счетами блокировка накладывается в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фиксированном алфавитном порядке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по номеру счёта.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45983" y="5476042"/>
            <a:ext cx="10338316" cy="786527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61223" y="5491282"/>
            <a:ext cx="524351" cy="756047"/>
          </a:xfrm>
          <a:prstGeom prst="roundRect">
            <a:avLst>
              <a:gd name="adj" fmla="val 19015"/>
            </a:avLst>
          </a:prstGeom>
          <a:solidFill>
            <a:srgbClr val="CEE6FD"/>
          </a:solidFill>
          <a:ln/>
        </p:spPr>
      </p:sp>
      <p:sp>
        <p:nvSpPr>
          <p:cNvPr id="26" name="Text 24"/>
          <p:cNvSpPr/>
          <p:nvPr/>
        </p:nvSpPr>
        <p:spPr>
          <a:xfrm>
            <a:off x="2325053" y="5746433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72132" y="5622369"/>
            <a:ext cx="2248614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Версионирование схемы БД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72132" y="5879068"/>
            <a:ext cx="9565838" cy="17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Все изменения — через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Liquibase-миграции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Hibernate в режиме validate: запуск с несоответствующей схемой завершается ошибкой.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45983" y="6349127"/>
            <a:ext cx="10338316" cy="786527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61223" y="6364367"/>
            <a:ext cx="524351" cy="756047"/>
          </a:xfrm>
          <a:prstGeom prst="roundRect">
            <a:avLst>
              <a:gd name="adj" fmla="val 19015"/>
            </a:avLst>
          </a:prstGeom>
          <a:solidFill>
            <a:srgbClr val="CEE6FD"/>
          </a:solidFill>
          <a:ln/>
        </p:spPr>
      </p:sp>
      <p:sp>
        <p:nvSpPr>
          <p:cNvPr id="31" name="Text 29"/>
          <p:cNvSpPr/>
          <p:nvPr/>
        </p:nvSpPr>
        <p:spPr>
          <a:xfrm>
            <a:off x="2325053" y="6619518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772132" y="6495455"/>
            <a:ext cx="1638776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Наблюдаемость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772132" y="6752153"/>
            <a:ext cx="956583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Метрики Prometheus на </a:t>
            </a:r>
            <a:r>
              <a:rPr lang="en-US" sz="10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/actuator/prometheus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транзакции по типу и статусу, дубликаты событий, задержка Outbox по партициям.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1966" y="900946"/>
            <a:ext cx="186189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Тестирование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1441966" y="1178362"/>
            <a:ext cx="6889194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Стратегия и результаты тестирования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441966" y="1923217"/>
            <a:ext cx="2679383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Покрытие: 33 тестовых файла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441966" y="2356128"/>
            <a:ext cx="5691545" cy="49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21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3356729" y="3005852"/>
            <a:ext cx="186189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core-transaction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41966" y="3350300"/>
            <a:ext cx="5691545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Unit + интеграционные тесты: все типы операций, Outbox, генерация номеров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41966" y="3856672"/>
            <a:ext cx="5691545" cy="49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12</a:t>
            </a:r>
            <a:endParaRPr lang="en-US" sz="3850" dirty="0"/>
          </a:p>
        </p:txBody>
      </p:sp>
      <p:sp>
        <p:nvSpPr>
          <p:cNvPr id="9" name="Text 7"/>
          <p:cNvSpPr/>
          <p:nvPr/>
        </p:nvSpPr>
        <p:spPr>
          <a:xfrm>
            <a:off x="3356729" y="4506397"/>
            <a:ext cx="186189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core-ledger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41966" y="4850844"/>
            <a:ext cx="5691545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Unit + интеграционные тесты: Kafka-цикл, история, генерация отчётов PDF/DOCX/HTML</a:t>
            </a:r>
            <a:endParaRPr lang="en-US" sz="11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7806" y="5400794"/>
            <a:ext cx="223361" cy="2233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25955" y="5393531"/>
            <a:ext cx="5207556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MockK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мокирование для Kotlin: моки, стабы, верификация вызовов</a:t>
            </a:r>
            <a:endParaRPr lang="en-US" sz="11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7806" y="6078379"/>
            <a:ext cx="223361" cy="2233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5955" y="6071116"/>
            <a:ext cx="5207556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Testcontainers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PostgreSQL 16 и Kafka 3.7.0 в Docker при каждом запуске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7806" y="6755963"/>
            <a:ext cx="223361" cy="2233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5955" y="6748701"/>
            <a:ext cx="5207556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@DynamicPropertySource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динамическая подстановка URL контейнеров в Spring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504509" y="1923217"/>
            <a:ext cx="1862852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Ключевые проверки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504509" y="2281714"/>
            <a:ext cx="2789873" cy="1506736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668697" y="2445901"/>
            <a:ext cx="186189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Идемпотентность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668697" y="2790349"/>
            <a:ext cx="2461498" cy="625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Повторный запрос с тем же ключом не создаёт дубль транзакции.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10406062" y="2281714"/>
            <a:ext cx="2789992" cy="1506736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570250" y="2445901"/>
            <a:ext cx="186189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Kafka full-cycle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0570250" y="2790349"/>
            <a:ext cx="2461617" cy="83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HTTP-запрос → запись в БД → Outbox → Kafka → ledger. Асинхронное потребление подтверждено.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504509" y="3900130"/>
            <a:ext cx="5691545" cy="1089779"/>
          </a:xfrm>
          <a:prstGeom prst="roundRect">
            <a:avLst>
              <a:gd name="adj" fmla="val 12302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668697" y="4064318"/>
            <a:ext cx="186189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Граничные случаи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7668697" y="4408765"/>
            <a:ext cx="5363170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Недостаточно средств, несуществующий счёт, дублирующий запрос — все обработаны корректно.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504509" y="5115639"/>
            <a:ext cx="5691545" cy="740807"/>
          </a:xfrm>
          <a:prstGeom prst="roundRect">
            <a:avLst>
              <a:gd name="adj" fmla="val 18097"/>
            </a:avLst>
          </a:prstGeom>
          <a:solidFill>
            <a:srgbClr val="B5DAFC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457" y="5323761"/>
            <a:ext cx="186095" cy="14894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988498" y="5264467"/>
            <a:ext cx="5058608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Все </a:t>
            </a:r>
            <a:r>
              <a:rPr lang="en-US" sz="11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33 теста пройдены успешно</a:t>
            </a: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Ошибок и сбоев в ходе тестирования выявлено не было.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324" y="795338"/>
            <a:ext cx="2108954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Итоги и перспективы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78324" y="1104067"/>
            <a:ext cx="7269837" cy="51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Результаты и направления развития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0809" y="1815584"/>
            <a:ext cx="6472714" cy="5618559"/>
          </a:xfrm>
          <a:prstGeom prst="roundRect">
            <a:avLst>
              <a:gd name="adj" fmla="val 4184"/>
            </a:avLst>
          </a:prstGeom>
          <a:solidFill>
            <a:srgbClr val="000E21"/>
          </a:solidFill>
          <a:ln/>
        </p:spPr>
      </p:sp>
      <p:sp>
        <p:nvSpPr>
          <p:cNvPr id="5" name="Text 3"/>
          <p:cNvSpPr/>
          <p:nvPr/>
        </p:nvSpPr>
        <p:spPr>
          <a:xfrm>
            <a:off x="924044" y="1949768"/>
            <a:ext cx="2450425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Достигнутые результаты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24044" y="2445484"/>
            <a:ext cx="81558" cy="81558"/>
          </a:xfrm>
          <a:prstGeom prst="roundRect">
            <a:avLst>
              <a:gd name="adj" fmla="val 560583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1139785" y="2355771"/>
            <a:ext cx="593050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Реализованы два production-ready микросервиса на Kotlin + Spring Boot + PostgreSQL + Kafka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24044" y="3189744"/>
            <a:ext cx="81558" cy="81558"/>
          </a:xfrm>
          <a:prstGeom prst="roundRect">
            <a:avLst>
              <a:gd name="adj" fmla="val 560583"/>
            </a:avLst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1139785" y="3100030"/>
            <a:ext cx="593050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CQRS: 8 типов операций на стороне записи, история и отчёты на стороне чтения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24044" y="3934004"/>
            <a:ext cx="81558" cy="81558"/>
          </a:xfrm>
          <a:prstGeom prst="roundRect">
            <a:avLst>
              <a:gd name="adj" fmla="val 560583"/>
            </a:avLst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1139785" y="3844290"/>
            <a:ext cx="593050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Transactional Outbox с LIST-секционированием на 8 партиций, lease-блокировками и пакетной обработкой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24044" y="4678263"/>
            <a:ext cx="81558" cy="81558"/>
          </a:xfrm>
          <a:prstGeom prst="roundRect">
            <a:avLst>
              <a:gd name="adj" fmla="val 560583"/>
            </a:avLst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1139785" y="4588550"/>
            <a:ext cx="593050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Полная идемпотентность: уникальные ключи, дедупликация, ручное подтверждение Kafka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4044" y="5422523"/>
            <a:ext cx="81558" cy="81558"/>
          </a:xfrm>
          <a:prstGeom prst="roundRect">
            <a:avLst>
              <a:gd name="adj" fmla="val 560583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1139785" y="5332809"/>
            <a:ext cx="593050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33 тестовых файла: unit (MockK) и интеграционные (Testcontainers). Все тесты пройдены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21773" y="1949768"/>
            <a:ext cx="230981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Направления развития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21773" y="2355771"/>
            <a:ext cx="163235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21773" y="2610207"/>
            <a:ext cx="6237684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7521773" y="2737485"/>
            <a:ext cx="2112645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Spring Security + JWT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21773" y="3126700"/>
            <a:ext cx="6237684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Аутентификация и авторизация клиентов банка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03390" y="3621167"/>
            <a:ext cx="163235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521773" y="3875603"/>
            <a:ext cx="6237684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3" name="Text 21"/>
          <p:cNvSpPr/>
          <p:nvPr/>
        </p:nvSpPr>
        <p:spPr>
          <a:xfrm>
            <a:off x="7521773" y="4002881"/>
            <a:ext cx="204061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Saga-оркестрация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21773" y="4392097"/>
            <a:ext cx="6237684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Длительные транзакции с компенсирующими операциями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21773" y="4886563"/>
            <a:ext cx="163235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21773" y="5141000"/>
            <a:ext cx="6237684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7" name="Text 25"/>
          <p:cNvSpPr/>
          <p:nvPr/>
        </p:nvSpPr>
        <p:spPr>
          <a:xfrm>
            <a:off x="7521773" y="5268278"/>
            <a:ext cx="204061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Redis-кэширование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1773" y="5657493"/>
            <a:ext cx="6237684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Кэш часто запрашиваемых данных для снижения нагрузки на БД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21773" y="6151959"/>
            <a:ext cx="163235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21773" y="6406396"/>
            <a:ext cx="6237684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1" name="Text 29"/>
          <p:cNvSpPr/>
          <p:nvPr/>
        </p:nvSpPr>
        <p:spPr>
          <a:xfrm>
            <a:off x="7521773" y="6533674"/>
            <a:ext cx="206930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Grafana + Kubernetes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21773" y="6922889"/>
            <a:ext cx="6237684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Визуализация метрик и манифесты для промышленного развёртывания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1218</Words>
  <Application>Microsoft Office PowerPoint</Application>
  <PresentationFormat>Произвольный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Instrument Sans Semi Bold</vt:lpstr>
      <vt:lpstr>Consolas</vt:lpstr>
      <vt:lpstr>Instrument Sans Medium</vt:lpstr>
      <vt:lpstr>Instrument Sans Light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Святослав Милькин</cp:lastModifiedBy>
  <cp:revision>4</cp:revision>
  <dcterms:created xsi:type="dcterms:W3CDTF">2026-04-04T07:54:36Z</dcterms:created>
  <dcterms:modified xsi:type="dcterms:W3CDTF">2026-04-04T08:11:10Z</dcterms:modified>
</cp:coreProperties>
</file>