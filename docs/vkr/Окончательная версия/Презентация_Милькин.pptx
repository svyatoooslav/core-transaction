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4" r:id="rId9"/>
    <p:sldId id="266" r:id="rId10"/>
    <p:sldId id="265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842" autoAdjust="0"/>
  </p:normalViewPr>
  <p:slideViewPr>
    <p:cSldViewPr snapToGrid="0" snapToObjects="1">
      <p:cViewPr varScale="1">
        <p:scale>
          <a:sx n="98" d="100"/>
          <a:sy n="98" d="100"/>
        </p:scale>
        <p:origin x="10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56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ВКР — проектирование и реализация механизма гарантированной доставки сообщений на основе паттерна Transactional Outbox для банковской сферы. Стек: Kotlin, Spring Boot, PostgreSQL, Kafka, Docker; архитектура CQRS.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проблема предметной области — двойная запись (dual write) между БД и брокером. Решение — паттерн Transactional Outbox в связке с CQRS. На слайде специально мало текста: подробности проговариваются устно.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сформулирована как проектирование И реализация платформы. Перечислены основные задачи — на защите проговариваются кратко, акцент на результате.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Функционал описываем картинками и иконками, текст проговариваем. Отдельно упоминаем, что API закрыт авторизацией по Bearer-токену (JWT) через схему безопасности OpenAPI.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Аналоги: прямая публикация (теряет события), 2PC (тяжёлый и не поддерживается Kafka), CDC/Debezium (внешняя зависимость). Outbox даёт атомарность без распределённых транзакций и внешних компонентов.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Функциональная модель показывает полный путь транзакции: от валидации до асинхронной доставки события в </a:t>
            </a:r>
            <a:r>
              <a:rPr lang="en-US" dirty="0" err="1"/>
              <a:t>сервис-реестр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Алгоритм Outbox Consumer на уровне одной партиции: lease-блокировка предотвращает параллельную обработку, пакетная выборка по offset, продвижение смещения только после успешной обработки. Это обеспечивает доставку at-least-once.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Слайд-заполнитель под видео. Вставьте видеозапись (Вставка → Видео → Видео на компьютере) поверх тёмной области. На записи покажите полный цикл прохождения транзакции через сервисы.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спроектирована и реализована событийно-управляемая платформа с гарантированной доставкой. Все 33 теста пройдены. Авторизация по Bearer-токену реализована. Дальше — Saga, кэширование, развёртывание в Kubernetes.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94310"/>
            <a:ext cx="12191695" cy="6926580"/>
          </a:xfrm>
          <a:prstGeom prst="rect">
            <a:avLst/>
          </a:prstGeom>
          <a:solidFill>
            <a:srgbClr val="1E3063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52347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-1005840"/>
            <a:ext cx="3657600" cy="3657600"/>
          </a:xfrm>
          <a:prstGeom prst="ellipse">
            <a:avLst/>
          </a:prstGeom>
          <a:solidFill>
            <a:srgbClr val="24386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-274320"/>
            <a:ext cx="2194560" cy="2194560"/>
          </a:xfrm>
          <a:prstGeom prst="ellipse">
            <a:avLst/>
          </a:prstGeom>
          <a:solidFill>
            <a:srgbClr val="2E6FD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Кубанский государственный технологический университет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ru-RU" sz="16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Факультет информационных технологий и кибербезопасности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Кафедра информационных систем и программирования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flipV="1">
            <a:off x="822960" y="1536192"/>
            <a:ext cx="7955280" cy="64008"/>
          </a:xfrm>
          <a:prstGeom prst="line">
            <a:avLst/>
          </a:prstGeom>
          <a:noFill/>
          <a:ln w="12700">
            <a:solidFill>
              <a:srgbClr val="3A4E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25923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ВЫПУСКНАЯ КВАЛИФИКАЦИОННАЯ РАБОТА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Разработка механизма гарантированной доставки сообщений с использованием паттерна Transactional Outbox в банковской сфере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22960" y="4427806"/>
            <a:ext cx="10515600" cy="0"/>
          </a:xfrm>
          <a:prstGeom prst="line">
            <a:avLst/>
          </a:prstGeom>
          <a:noFill/>
          <a:ln w="12700">
            <a:solidFill>
              <a:srgbClr val="3A4E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08981"/>
            <a:ext cx="8247149" cy="88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</a:t>
            </a:r>
            <a:r>
              <a:rPr lang="en-US" sz="24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студент группы 22-КБ-ПР1</a:t>
            </a:r>
            <a:r>
              <a:rPr lang="en-US" sz="24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Милькин С</a:t>
            </a:r>
            <a:r>
              <a:rPr lang="ru-RU" sz="24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вятослав</a:t>
            </a: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Н</a:t>
            </a:r>
            <a:r>
              <a:rPr lang="ru-RU" sz="24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иколаевич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5523780"/>
            <a:ext cx="10085185" cy="679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Научный р</a:t>
            </a:r>
            <a:r>
              <a:rPr lang="en-US" sz="2400" b="1" dirty="0" err="1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уководитель</a:t>
            </a:r>
            <a:r>
              <a:rPr lang="en-US" sz="24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 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канд</a:t>
            </a:r>
            <a:r>
              <a:rPr lang="ru-RU" sz="24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идат</a:t>
            </a: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экон</a:t>
            </a:r>
            <a:r>
              <a:rPr lang="ru-RU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омических</a:t>
            </a: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наук, </a:t>
            </a:r>
            <a:r>
              <a:rPr lang="en-US" sz="24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доц</a:t>
            </a:r>
            <a:r>
              <a:rPr lang="ru-RU" sz="24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ент</a:t>
            </a: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К</a:t>
            </a:r>
            <a:r>
              <a:rPr lang="ru-RU" sz="24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овалева</a:t>
            </a:r>
            <a:r>
              <a:rPr lang="ru-RU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Ксения Александровна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6369689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4C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09.03.04 Программная инженерия · профиль «Проектирование и разработка ПО» · Краснодар, 2026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E6F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ПРЕДМЕТНАЯ ОБЛАСТЬ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Надёжность банковских операций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5322" y="1783079"/>
            <a:ext cx="5318759" cy="4011051"/>
          </a:xfrm>
          <a:prstGeom prst="roundRect">
            <a:avLst>
              <a:gd name="adj" fmla="val 2500"/>
            </a:avLst>
          </a:prstGeom>
          <a:solidFill>
            <a:srgbClr val="1E3063"/>
          </a:solidFill>
          <a:ln/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img/ic_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Проблема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99160" y="2595282"/>
            <a:ext cx="5029198" cy="1861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24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Запись транзакции в базу данных и публикация события в брокер сообщений не могут быть выполнены атомарно. Сбой между этими операциями приводит к потере события при уже зафиксированной транзакции.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99160" y="4558636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i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банковской сфере это недопустимо: потеря транзакции или двойное списание обходятся крайне дорого.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17921" y="1783080"/>
            <a:ext cx="5349239" cy="4011050"/>
          </a:xfrm>
          <a:prstGeom prst="roundRect">
            <a:avLst>
              <a:gd name="adj" fmla="val 2500"/>
            </a:avLst>
          </a:prstGeom>
          <a:solidFill>
            <a:srgbClr val="EAF3FD"/>
          </a:solidFill>
          <a:ln/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0" name="Image 1" descr="img/ic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574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92240" y="26974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Transactional Outbox — </a:t>
            </a:r>
            <a:r>
              <a:rPr lang="en-US" sz="20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событие записывается в ту же БД в одной транзакции с бизнес-данными, а фоновый процесс надёжно доставляет его в брокер. Ни одно событие не теряется.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92240" y="43891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CQRS — </a:t>
            </a:r>
            <a:r>
              <a:rPr lang="en-US" sz="20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разделение операций записи и чтения на два независимых сервиса для изолированного масштабирования и отказоустойчивости.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0080" y="586622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B66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Сценарий: клиент инициирует перевод → транзакция фиксируется атомарно → событие гарантированно доходит до сервиса-реестра для истории и отчётности.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E6F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И ЗАДАЧИ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проектируется и реализуется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1143000"/>
          </a:xfrm>
          <a:prstGeom prst="roundRect">
            <a:avLst>
              <a:gd name="adj" fmla="val 8000"/>
            </a:avLst>
          </a:prstGeom>
          <a:solidFill>
            <a:srgbClr val="1E3063"/>
          </a:solidFill>
          <a:ln/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img/ic_g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2140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8308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Цель.  </a:t>
            </a: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Проектирование и </a:t>
            </a:r>
            <a:r>
              <a:rPr lang="en-US" sz="20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реализация</a:t>
            </a: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событийно</a:t>
            </a: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r>
              <a:rPr lang="ru-RU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ориентированной</a:t>
            </a: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платформы обработки банковских транзакций на основе архитектуры CQRS с применением паттерна Transactional Outbox.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Задачи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61188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EAF3FD"/>
          </a:solidFill>
          <a:ln w="12700">
            <a:solidFill>
              <a:srgbClr val="DCEB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3849624"/>
            <a:ext cx="365760" cy="365760"/>
          </a:xfrm>
          <a:prstGeom prst="ellipse">
            <a:avLst/>
          </a:prstGeom>
          <a:solidFill>
            <a:srgbClr val="2E6FD6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53312" y="366674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Описать предметную область и сформировать техническое задание на систему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17920" y="361188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EAF3FD"/>
          </a:solidFill>
          <a:ln w="12700">
            <a:solidFill>
              <a:srgbClr val="DCEBF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10"/>
          <p:cNvSpPr/>
          <p:nvPr/>
        </p:nvSpPr>
        <p:spPr>
          <a:xfrm>
            <a:off x="6419088" y="3849624"/>
            <a:ext cx="365760" cy="365760"/>
          </a:xfrm>
          <a:prstGeom prst="ellipse">
            <a:avLst/>
          </a:prstGeom>
          <a:solidFill>
            <a:srgbClr val="2E6FD6"/>
          </a:solidFill>
          <a:ln/>
        </p:spPr>
      </p:sp>
      <p:sp>
        <p:nvSpPr>
          <p:cNvPr id="14" name="Text 11"/>
          <p:cNvSpPr/>
          <p:nvPr/>
        </p:nvSpPr>
        <p:spPr>
          <a:xfrm>
            <a:off x="6419088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31152" y="366674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Спроектировать базы данных обоих сервисов и схему миграций (Liquibase)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6177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EAF3FD"/>
          </a:solidFill>
          <a:ln w="12700">
            <a:solidFill>
              <a:srgbClr val="DCEBF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4855464"/>
            <a:ext cx="365760" cy="365760"/>
          </a:xfrm>
          <a:prstGeom prst="ellipse">
            <a:avLst/>
          </a:prstGeom>
          <a:solidFill>
            <a:srgbClr val="2E6FD6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53312" y="467258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Спроектировать архитектуру: сторона записи и сторона чтения (CQRS)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17920" y="46177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EAF3FD"/>
          </a:solidFill>
          <a:ln w="12700">
            <a:solidFill>
              <a:srgbClr val="DCEB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19088" y="4855464"/>
            <a:ext cx="365760" cy="365760"/>
          </a:xfrm>
          <a:prstGeom prst="ellipse">
            <a:avLst/>
          </a:prstGeom>
          <a:solidFill>
            <a:srgbClr val="2E6FD6"/>
          </a:solidFill>
          <a:ln/>
        </p:spPr>
      </p:sp>
      <p:sp>
        <p:nvSpPr>
          <p:cNvPr id="22" name="Text 19"/>
          <p:cNvSpPr/>
          <p:nvPr/>
        </p:nvSpPr>
        <p:spPr>
          <a:xfrm>
            <a:off x="6419088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31152" y="467258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Реализовать механизм Transactional Outbox с гарантией доставки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40080" y="562356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EAF3FD"/>
          </a:solidFill>
          <a:ln w="12700">
            <a:solidFill>
              <a:srgbClr val="DCEBF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1248" y="5861304"/>
            <a:ext cx="365760" cy="365760"/>
          </a:xfrm>
          <a:prstGeom prst="ellipse">
            <a:avLst/>
          </a:prstGeom>
          <a:solidFill>
            <a:srgbClr val="2E6FD6"/>
          </a:solidFill>
          <a:ln/>
        </p:spPr>
      </p:sp>
      <p:sp>
        <p:nvSpPr>
          <p:cNvPr id="26" name="Text 23"/>
          <p:cNvSpPr/>
          <p:nvPr/>
        </p:nvSpPr>
        <p:spPr>
          <a:xfrm>
            <a:off x="841248" y="5861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353312" y="56784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dirty="0" err="1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Обеспечить</a:t>
            </a:r>
            <a:r>
              <a:rPr lang="en-US" sz="20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000" dirty="0" err="1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идемпотентность</a:t>
            </a:r>
            <a:r>
              <a:rPr lang="ru-RU" sz="20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операций</a:t>
            </a:r>
            <a:r>
              <a:rPr lang="en-US" sz="20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и дедупликацию событий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217920" y="562356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EAF3FD"/>
          </a:solidFill>
          <a:ln w="12700">
            <a:solidFill>
              <a:srgbClr val="DCEBF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19088" y="5861304"/>
            <a:ext cx="365760" cy="365760"/>
          </a:xfrm>
          <a:prstGeom prst="ellipse">
            <a:avLst/>
          </a:prstGeom>
          <a:solidFill>
            <a:srgbClr val="2E6FD6"/>
          </a:solidFill>
          <a:ln/>
        </p:spPr>
      </p:sp>
      <p:sp>
        <p:nvSpPr>
          <p:cNvPr id="30" name="Text 27"/>
          <p:cNvSpPr/>
          <p:nvPr/>
        </p:nvSpPr>
        <p:spPr>
          <a:xfrm>
            <a:off x="6419088" y="5861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931152" y="56784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Провести тестирование (unit и интеграционные тесты)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E6F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ФУНКЦИОНАЛ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Возможности системы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BFB"/>
            </a:solidFill>
            <a:prstDash val="solid"/>
          </a:ln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566928" cy="566928"/>
          </a:xfrm>
          <a:prstGeom prst="ellipse">
            <a:avLst/>
          </a:prstGeom>
          <a:solidFill>
            <a:srgbClr val="EAF3FD"/>
          </a:solidFill>
          <a:ln/>
        </p:spPr>
      </p:sp>
      <p:pic>
        <p:nvPicPr>
          <p:cNvPr id="6" name="Image 0" descr="img/ic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2128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2491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Внутренние переводы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96112" y="307238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5B66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Между счетами клиента: сберегательный, депозитный, брокерский. Атомарное списание и зачисление.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BFB"/>
            </a:solidFill>
            <a:prstDash val="solid"/>
          </a:ln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084832"/>
            <a:ext cx="566928" cy="566928"/>
          </a:xfrm>
          <a:prstGeom prst="ellipse">
            <a:avLst/>
          </a:prstGeom>
          <a:solidFill>
            <a:srgbClr val="EAF3FD"/>
          </a:solidFill>
          <a:ln/>
        </p:spPr>
      </p:sp>
      <p:pic>
        <p:nvPicPr>
          <p:cNvPr id="11" name="Image 1" descr="img/ic_sb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2128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72491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Перевод через СБП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99432" y="307238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6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номеру телефона получателя — идентификация счёта по привязанному номеру.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BFB"/>
            </a:solidFill>
            <a:prstDash val="solid"/>
          </a:ln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084832"/>
            <a:ext cx="566928" cy="566928"/>
          </a:xfrm>
          <a:prstGeom prst="ellipse">
            <a:avLst/>
          </a:prstGeom>
          <a:solidFill>
            <a:srgbClr val="EAF3FD"/>
          </a:solidFill>
          <a:ln/>
        </p:spPr>
      </p:sp>
      <p:pic>
        <p:nvPicPr>
          <p:cNvPr id="16" name="Image 2" descr="img/ic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2128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72491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Межбанковский перевод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302752" y="307238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6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номерам платёжных карт отправителя и получателя.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2493112" y="3858768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BFB"/>
            </a:solidFill>
            <a:prstDash val="solid"/>
          </a:ln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9144" y="4114800"/>
            <a:ext cx="566928" cy="566928"/>
          </a:xfrm>
          <a:prstGeom prst="ellipse">
            <a:avLst/>
          </a:prstGeom>
          <a:solidFill>
            <a:srgbClr val="EAF3FD"/>
          </a:solidFill>
          <a:ln/>
        </p:spPr>
      </p:sp>
      <p:pic>
        <p:nvPicPr>
          <p:cNvPr id="21" name="Image 3" descr="img/ic_gif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7160" y="424281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49144" y="47548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Зачисление без списания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2749144" y="5102352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6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Денежный подарок и компенсация — зачисление на счёт без проверки баланса источника.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196432" y="3858768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BFB"/>
            </a:solidFill>
            <a:prstDash val="solid"/>
          </a:ln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52464" y="4114800"/>
            <a:ext cx="566928" cy="566928"/>
          </a:xfrm>
          <a:prstGeom prst="ellipse">
            <a:avLst/>
          </a:prstGeom>
          <a:solidFill>
            <a:srgbClr val="EAF3FD"/>
          </a:solidFill>
          <a:ln/>
        </p:spPr>
      </p:sp>
      <p:pic>
        <p:nvPicPr>
          <p:cNvPr id="26" name="Image 4" descr="img/ic_re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480" y="424281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52464" y="47548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История и отчёты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6452464" y="5102352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6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Фильтрация по дате, типу, статусу. Выгрузка в PDF, DOCX, HTML (паттерн Strategy).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40080" y="60807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B66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Все запросы к API защищены аутентификацией по Bearer-токену (JWT).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E6F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СРАВНЕНИЕ С АНАЛОГАМИ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Чем предложенный подход лучше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27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BFB"/>
            </a:solidFill>
            <a:prstDash val="solid"/>
          </a:ln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57984"/>
            <a:ext cx="384048" cy="384048"/>
          </a:xfrm>
          <a:prstGeom prst="ellipse">
            <a:avLst/>
          </a:prstGeom>
          <a:solidFill>
            <a:srgbClr val="F3E2E1"/>
          </a:solidFill>
          <a:ln/>
        </p:spPr>
      </p:sp>
      <p:pic>
        <p:nvPicPr>
          <p:cNvPr id="6" name="Image 0" descr="img/ic_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9424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Прямая публикация в Kafka из кода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669280" y="1874520"/>
            <a:ext cx="571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6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Событие теряется при сбое между записью в БД и отправкой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10927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BFB"/>
            </a:solidFill>
            <a:prstDash val="solid"/>
          </a:ln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255264"/>
            <a:ext cx="384048" cy="384048"/>
          </a:xfrm>
          <a:prstGeom prst="ellipse">
            <a:avLst/>
          </a:prstGeom>
          <a:solidFill>
            <a:srgbClr val="F3E2E1"/>
          </a:solidFill>
          <a:ln/>
        </p:spPr>
      </p:sp>
      <p:pic>
        <p:nvPicPr>
          <p:cNvPr id="11" name="Image 1" descr="img/ic_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4670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71800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Двухфазный коммит (2PC / XA)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669280" y="2971800"/>
            <a:ext cx="571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6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Сложен, медленен, плохо масштабируется, не поддерживается Kafka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10927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BFB"/>
            </a:solidFill>
            <a:prstDash val="solid"/>
          </a:ln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52544"/>
            <a:ext cx="384048" cy="384048"/>
          </a:xfrm>
          <a:prstGeom prst="ellipse">
            <a:avLst/>
          </a:prstGeom>
          <a:solidFill>
            <a:srgbClr val="F3E2E1"/>
          </a:solidFill>
          <a:ln/>
        </p:spPr>
      </p:sp>
      <p:pic>
        <p:nvPicPr>
          <p:cNvPr id="16" name="Image 2" descr="img/ic_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4398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69080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Готовые CDC-решения (Debezium)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669280" y="4069080"/>
            <a:ext cx="571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6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Внешняя зависимость, сложность развёртывания и сопровождения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27080" cy="932688"/>
          </a:xfrm>
          <a:prstGeom prst="roundRect">
            <a:avLst>
              <a:gd name="adj" fmla="val 7843"/>
            </a:avLst>
          </a:prstGeom>
          <a:solidFill>
            <a:srgbClr val="1E3063"/>
          </a:solidFill>
          <a:ln w="12700">
            <a:solidFill>
              <a:srgbClr val="1E3063"/>
            </a:solidFill>
            <a:prstDash val="solid"/>
          </a:ln>
          <a:effectLst>
            <a:outerShdw blurRad="1143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5449824"/>
            <a:ext cx="384048" cy="384048"/>
          </a:xfrm>
          <a:prstGeom prst="ellipse">
            <a:avLst/>
          </a:prstGeom>
          <a:solidFill>
            <a:srgbClr val="2E6FD6"/>
          </a:solidFill>
          <a:ln/>
        </p:spPr>
      </p:sp>
      <p:pic>
        <p:nvPicPr>
          <p:cNvPr id="21" name="Image 3" descr="img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54126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166360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Transactional Outbox (данная работа)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669280" y="5166360"/>
            <a:ext cx="571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Атомарность через одну БД-транзакцию, идемпотентность, отказоустойчивость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35560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50" b="1" kern="0" spc="200" dirty="0">
                <a:solidFill>
                  <a:srgbClr val="2E6F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ВАЖНЫЕ ДИАГРАММЫ</a:t>
            </a:r>
            <a:endParaRPr lang="ru-RU" sz="1250" dirty="0"/>
          </a:p>
        </p:txBody>
      </p:sp>
      <p:sp>
        <p:nvSpPr>
          <p:cNvPr id="3" name="Title"/>
          <p:cNvSpPr/>
          <p:nvPr/>
        </p:nvSpPr>
        <p:spPr>
          <a:xfrm>
            <a:off x="355599" y="551618"/>
            <a:ext cx="8749489" cy="40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1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Модель данных: две независимые БД</a:t>
            </a:r>
            <a:endParaRPr lang="ru-RU" sz="3100" dirty="0"/>
          </a:p>
        </p:txBody>
      </p:sp>
      <p:pic>
        <p:nvPicPr>
          <p:cNvPr id="10" name="ER transaction_d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574" y="1250703"/>
            <a:ext cx="6096000" cy="5166102"/>
          </a:xfrm>
          <a:prstGeom prst="rect">
            <a:avLst/>
          </a:prstGeom>
        </p:spPr>
      </p:pic>
      <p:pic>
        <p:nvPicPr>
          <p:cNvPr id="12" name="ER ledger_d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6" y="3552145"/>
            <a:ext cx="3250000" cy="2754237"/>
          </a:xfrm>
          <a:prstGeom prst="rect">
            <a:avLst/>
          </a:prstGeom>
        </p:spPr>
      </p:pic>
      <p:sp>
        <p:nvSpPr>
          <p:cNvPr id="14" name="desc"/>
          <p:cNvSpPr/>
          <p:nvPr/>
        </p:nvSpPr>
        <p:spPr>
          <a:xfrm>
            <a:off x="380426" y="1371600"/>
            <a:ext cx="5186000" cy="1848582"/>
          </a:xfrm>
          <a:prstGeom prst="rect">
            <a:avLst/>
          </a:prstGeom>
          <a:solidFill>
            <a:srgbClr val="EAF3FD"/>
          </a:solidFill>
          <a:ln/>
        </p:spPr>
        <p:txBody>
          <a:bodyPr wrap="square" lIns="118872" tIns="91440" rIns="118872" bIns="91440" rtlCol="0" anchor="ctr"/>
          <a:lstStyle/>
          <a:p>
            <a:pPr marL="171450" indent="-17145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ru-RU" sz="16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transaction_db: 7 таблиц со связями (users, accounts, cards, transactions) и инфраструктура Outbox</a:t>
            </a:r>
          </a:p>
          <a:p>
            <a:pPr marL="171450" indent="-17145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ru-RU" sz="16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ledger_db: одна денормализованная таблица transaction_ledger — чтение истории без JOIN</a:t>
            </a:r>
          </a:p>
          <a:p>
            <a:pPr marL="171450" indent="-171450">
              <a:lnSpc>
                <a:spcPts val="1500"/>
              </a:lnSpc>
              <a:spcAft>
                <a:spcPts val="0"/>
              </a:spcAft>
              <a:buSzPct val="100000"/>
              <a:buChar char="•"/>
            </a:pPr>
            <a:r>
              <a:rPr lang="ru-RU" sz="16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Связь между БД только логическая (по source_transaction_id), без внешнего ключа — сервисы независимы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E6F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ВАЖНЫЕ ДИАГРАММЫ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470040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Функциональная модель</a:t>
            </a:r>
            <a:endParaRPr lang="en-US" sz="3100" dirty="0"/>
          </a:p>
        </p:txBody>
      </p:sp>
      <p:pic>
        <p:nvPicPr>
          <p:cNvPr id="4" name="Image 0" descr="img/fig_func.png"/>
          <p:cNvPicPr>
            <a:picLocks noChangeAspect="1"/>
          </p:cNvPicPr>
          <p:nvPr/>
        </p:nvPicPr>
        <p:blipFill rotWithShape="1">
          <a:blip r:embed="rId3"/>
          <a:srcRect t="2417" b="29824"/>
          <a:stretch/>
        </p:blipFill>
        <p:spPr>
          <a:xfrm>
            <a:off x="5427574" y="168784"/>
            <a:ext cx="3202719" cy="66176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69526"/>
            <a:ext cx="4626512" cy="317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Валидация запроса и проверка уникальности idempotencyKey</a:t>
            </a:r>
            <a:endParaRPr lang="en-US" sz="240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Проверка счетов и блокировка в фиксированном порядке</a:t>
            </a:r>
            <a:endParaRPr lang="en-US" sz="240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Атомарное списание/зачисление + запись события в Outbox</a:t>
            </a:r>
            <a:endParaRPr lang="en-US" sz="240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Асинхронная доставка: Outbox Consumer → Kafka → реестр</a:t>
            </a:r>
            <a:endParaRPr lang="en-US" sz="240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Дедупликация на стороне чтения и подтверждение (ack)</a:t>
            </a:r>
            <a:endParaRPr lang="en-US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D40C247-427F-4B95-A316-3510D91A4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642" y="246477"/>
            <a:ext cx="3024633" cy="26718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E6F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ВАЖНЫЕ ДИАГРАММЫ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Алгоритм Outbox Consumer</a:t>
            </a:r>
            <a:endParaRPr lang="en-US" sz="3100" dirty="0"/>
          </a:p>
        </p:txBody>
      </p:sp>
      <p:pic>
        <p:nvPicPr>
          <p:cNvPr id="4" name="Image 0" descr="img/fig_out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273" y="178327"/>
            <a:ext cx="3828397" cy="6335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051645"/>
            <a:ext cx="5234659" cy="3150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Захват lease-блокировки партиции (tryAcquireLock с TTL)</a:t>
            </a:r>
            <a:endParaRPr lang="en-US" sz="240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Чтение currentOffset из таблицы смещений</a:t>
            </a:r>
            <a:endParaRPr lang="en-US" sz="240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Загрузка пакета сообщений (limit = 50, offset &gt; current)</a:t>
            </a:r>
            <a:endParaRPr lang="en-US" sz="240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Обработка событий с продвижением lastSuccessId</a:t>
            </a:r>
            <a:endParaRPr lang="en-US" sz="240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Фиксация смещения (upsertOffset) — гарантия at-least-once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200" dirty="0">
                <a:solidFill>
                  <a:srgbClr val="2E6F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ДЕМОНСТРАЦИЯ</a:t>
            </a:r>
            <a:endParaRPr lang="en-US" sz="4000" dirty="0"/>
          </a:p>
        </p:txBody>
      </p:sp>
      <p:pic>
        <p:nvPicPr>
          <p:cNvPr id="6" name="Image 0" descr="img/ic_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240" y="354787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461772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Вставьте сюда видеозапись демонстрации работы микросервисов</a:t>
            </a:r>
            <a:endParaRPr lang="en-US" sz="1700" dirty="0"/>
          </a:p>
        </p:txBody>
      </p:sp>
      <p:pic>
        <p:nvPicPr>
          <p:cNvPr id="9" name="20260614_191103 (online-video-cutter.com) (1)">
            <a:hlinkClick r:id="" action="ppaction://media"/>
            <a:extLst>
              <a:ext uri="{FF2B5EF4-FFF2-40B4-BE49-F238E27FC236}">
                <a16:creationId xmlns:a16="http://schemas.microsoft.com/office/drawing/2014/main" id="{572BA4F7-1386-438E-BFD3-B409C0649C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05410" y="1223784"/>
            <a:ext cx="7953898" cy="49708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55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5320" y="826829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Достигнутые результаты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15184" cy="1691640"/>
          </a:xfrm>
          <a:prstGeom prst="roundRect">
            <a:avLst>
              <a:gd name="adj" fmla="val 5405"/>
            </a:avLst>
          </a:prstGeom>
          <a:solidFill>
            <a:srgbClr val="152347"/>
          </a:solidFill>
          <a:ln w="12700">
            <a:solidFill>
              <a:srgbClr val="3347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385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</a:t>
            </a:r>
            <a:r>
              <a:rPr lang="en-US" sz="16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икросервиса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CQRS: запись и чтение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38144" y="1828800"/>
            <a:ext cx="2615184" cy="1691640"/>
          </a:xfrm>
          <a:prstGeom prst="roundRect">
            <a:avLst>
              <a:gd name="adj" fmla="val 5405"/>
            </a:avLst>
          </a:prstGeom>
          <a:solidFill>
            <a:srgbClr val="152347"/>
          </a:solidFill>
          <a:ln w="12700">
            <a:solidFill>
              <a:srgbClr val="33477E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9" name="Text 7"/>
          <p:cNvSpPr/>
          <p:nvPr/>
        </p:nvSpPr>
        <p:spPr>
          <a:xfrm>
            <a:off x="3438144" y="19385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575304" y="27432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</a:t>
            </a:r>
            <a:r>
              <a:rPr lang="en-US" sz="16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ипов</a:t>
            </a: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операций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75304" y="310896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переводы, СБП, </a:t>
            </a:r>
            <a:r>
              <a:rPr lang="en-US" sz="1600" dirty="0" err="1">
                <a:solidFill>
                  <a:srgbClr val="9FB3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подарок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6208" y="1828800"/>
            <a:ext cx="2615184" cy="1691640"/>
          </a:xfrm>
          <a:prstGeom prst="roundRect">
            <a:avLst>
              <a:gd name="adj" fmla="val 5405"/>
            </a:avLst>
          </a:prstGeom>
          <a:solidFill>
            <a:srgbClr val="152347"/>
          </a:solidFill>
          <a:ln w="12700">
            <a:solidFill>
              <a:srgbClr val="3347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9385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373368" y="27432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</a:t>
            </a:r>
            <a:r>
              <a:rPr lang="en-US" sz="16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артиций</a:t>
            </a: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Outbox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3368" y="310896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LIST-секционирование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34272" y="1828800"/>
            <a:ext cx="2615184" cy="1691640"/>
          </a:xfrm>
          <a:prstGeom prst="roundRect">
            <a:avLst>
              <a:gd name="adj" fmla="val 5405"/>
            </a:avLst>
          </a:prstGeom>
          <a:solidFill>
            <a:srgbClr val="152347"/>
          </a:solidFill>
          <a:ln w="12700">
            <a:solidFill>
              <a:srgbClr val="3347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272" y="19385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171432" y="27432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</a:t>
            </a:r>
            <a:r>
              <a:rPr lang="en-US" sz="16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ест</a:t>
            </a:r>
            <a:r>
              <a:rPr lang="ru-RU" sz="16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овых</a:t>
            </a:r>
            <a:r>
              <a:rPr lang="ru-RU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классов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310896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D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+ интеграционные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Реализовано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Transactional Outbox с lease-блокировками и пакетной обработкой</a:t>
            </a:r>
            <a:endParaRPr lang="en-US" sz="200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Полная идемпотентность: уникальные ключи и дедупликация событий</a:t>
            </a:r>
            <a:endParaRPr lang="en-US" sz="200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Аутентификация API по Bearer-токену (JWT) через схему OpenAPI</a:t>
            </a:r>
            <a:endParaRPr lang="en-US" sz="200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20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Наблюдаемость: метрики Prometheus, контейнеризация в Docker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4C1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Направления развития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425196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Saga-оркестрация для длительных распределённых транзакций</a:t>
            </a:r>
            <a:endParaRPr lang="en-US" sz="200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Redis-кэширование часто запрашиваемых данных</a:t>
            </a:r>
            <a:endParaRPr lang="en-US" sz="200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Расширение ролевой модели доступа поверх Bearer-аутентификации</a:t>
            </a:r>
            <a:endParaRPr lang="en-US" sz="2000" dirty="0"/>
          </a:p>
          <a:p>
            <a:pPr marL="177800" indent="-177800">
              <a:lnSpc>
                <a:spcPts val="1800"/>
              </a:lnSpc>
              <a:buSzPct val="100000"/>
              <a:buChar char="•"/>
            </a:pPr>
            <a:r>
              <a:rPr lang="en-US" sz="2000" dirty="0">
                <a:solidFill>
                  <a:srgbClr val="DCEBF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Grafana и манифесты Kubernetes для промышленного развёртывания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355600" y="182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50" b="1" kern="0" spc="200" dirty="0">
                <a:solidFill>
                  <a:srgbClr val="2E6F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ПРАКТИЧЕСКАЯ ЗНАЧИМОСТЬ</a:t>
            </a:r>
            <a:endParaRPr lang="ru-RU" sz="1250" dirty="0"/>
          </a:p>
        </p:txBody>
      </p:sp>
      <p:sp>
        <p:nvSpPr>
          <p:cNvPr id="3" name="Title"/>
          <p:cNvSpPr/>
          <p:nvPr/>
        </p:nvSpPr>
        <p:spPr>
          <a:xfrm>
            <a:off x="355600" y="622695"/>
            <a:ext cx="6054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1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Внедрение в банковскую систему</a:t>
            </a:r>
            <a:endParaRPr lang="ru-RU" sz="3100" dirty="0"/>
          </a:p>
        </p:txBody>
      </p:sp>
      <p:sp>
        <p:nvSpPr>
          <p:cNvPr id="11" name="Statement"/>
          <p:cNvSpPr/>
          <p:nvPr/>
        </p:nvSpPr>
        <p:spPr>
          <a:xfrm>
            <a:off x="355600" y="1177047"/>
            <a:ext cx="5486400" cy="1320000"/>
          </a:xfrm>
          <a:prstGeom prst="roundRect">
            <a:avLst>
              <a:gd name="adj" fmla="val 6000"/>
            </a:avLst>
          </a:prstGeom>
          <a:solidFill>
            <a:srgbClr val="1E3063"/>
          </a:solidFill>
          <a:ln/>
        </p:spPr>
        <p:txBody>
          <a:bodyPr wrap="square" lIns="182880" tIns="118872" rIns="182880" bIns="118872" rtlCol="0" anchor="ctr"/>
          <a:lstStyle/>
          <a:p>
            <a:pPr marL="0" indent="0" algn="l">
              <a:buNone/>
            </a:pPr>
            <a:r>
              <a:rPr lang="ru-RU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Механизм Transactional Outbox </a:t>
            </a:r>
            <a:r>
              <a:rPr lang="ru-RU" sz="24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внедрён и используется </a:t>
            </a:r>
            <a:r>
              <a:rPr lang="ru-RU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действующей банковской системе.</a:t>
            </a:r>
            <a:endParaRPr lang="ru-RU" sz="2400" dirty="0"/>
          </a:p>
        </p:txBody>
      </p:sp>
      <p:sp>
        <p:nvSpPr>
          <p:cNvPr id="12" name="Coverage label"/>
          <p:cNvSpPr/>
          <p:nvPr/>
        </p:nvSpPr>
        <p:spPr>
          <a:xfrm>
            <a:off x="355600" y="281467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400" b="1" dirty="0">
                <a:solidFill>
                  <a:srgbClr val="1E30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Используется в сценариях:</a:t>
            </a:r>
            <a:endParaRPr lang="ru-RU" sz="2400" b="1" dirty="0"/>
          </a:p>
        </p:txBody>
      </p:sp>
      <p:sp>
        <p:nvSpPr>
          <p:cNvPr id="13" name="Coverage bullets"/>
          <p:cNvSpPr/>
          <p:nvPr/>
        </p:nvSpPr>
        <p:spPr>
          <a:xfrm>
            <a:off x="355600" y="3503884"/>
            <a:ext cx="3747311" cy="1451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ru-RU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Дебетовые карты</a:t>
            </a:r>
            <a:endParaRPr lang="ru-RU" sz="2400" dirty="0"/>
          </a:p>
          <a:p>
            <a:pPr marL="285750" indent="-28575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ru-RU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Кредитные карты</a:t>
            </a:r>
            <a:endParaRPr lang="ru-RU" sz="2400" dirty="0"/>
          </a:p>
          <a:p>
            <a:pPr marL="285750" indent="-28575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ru-RU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Накопительные счета</a:t>
            </a:r>
            <a:endParaRPr lang="ru-RU" sz="2400" dirty="0"/>
          </a:p>
          <a:p>
            <a:pPr marL="285750" indent="-28575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ru-RU" sz="2400" dirty="0">
                <a:solidFill>
                  <a:srgbClr val="1B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Счета юридических лиц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0D305B-D92D-44C6-B6F8-9DE098DE43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b="33869"/>
          <a:stretch/>
        </p:blipFill>
        <p:spPr>
          <a:xfrm>
            <a:off x="6251370" y="1239825"/>
            <a:ext cx="5585030" cy="522735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981</Words>
  <Application>Microsoft Office PowerPoint</Application>
  <PresentationFormat>Широкоэкранный</PresentationFormat>
  <Paragraphs>129</Paragraphs>
  <Slides>11</Slides>
  <Notes>9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Гарантированная доставка сообщений (Transactional Outbox)</dc:title>
  <dc:subject>PptxGenJS Presentation</dc:subject>
  <dc:creator>С.Н. Милькин</dc:creator>
  <cp:lastModifiedBy>Святослав Милькин</cp:lastModifiedBy>
  <cp:revision>19</cp:revision>
  <dcterms:created xsi:type="dcterms:W3CDTF">2026-06-14T17:18:35Z</dcterms:created>
  <dcterms:modified xsi:type="dcterms:W3CDTF">2026-06-27T11:32:25Z</dcterms:modified>
</cp:coreProperties>
</file>